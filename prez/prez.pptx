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63" r:id="rId10"/>
    <p:sldId id="272" r:id="rId11"/>
    <p:sldId id="267" r:id="rId12"/>
    <p:sldId id="268" r:id="rId13"/>
    <p:sldId id="275" r:id="rId14"/>
    <p:sldId id="269" r:id="rId15"/>
    <p:sldId id="273" r:id="rId16"/>
    <p:sldId id="274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8"/>
  </p:normalViewPr>
  <p:slideViewPr>
    <p:cSldViewPr snapToGrid="0" showGuides="1">
      <p:cViewPr varScale="1">
        <p:scale>
          <a:sx n="113" d="100"/>
          <a:sy n="113" d="100"/>
        </p:scale>
        <p:origin x="42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4C4FF-5296-F440-8A99-26742BCF3BE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D5B80-CAA8-9244-88F2-38775E78F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60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100E-983E-4897-D57A-3FC68C6DB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7645D-08E0-8BC5-66F0-56861AC6A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97D54-FB99-8EEC-452A-88627BE2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869F-F4EF-2944-906D-51151E3A4E1C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28E66-064E-5DA8-180F-FEBB337BA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4357-6047-B36A-8E9D-CD2777C43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36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3507-FEB9-ACE2-DEC5-8A4DE51BE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68DB-178B-1CA6-DB85-4BD427347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2D9F8-A102-46BF-DD4E-56D4BB54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BE53-00DA-0441-9A7C-21012EABDCEB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3E46E-13E7-F062-FC72-AAD3C33E9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7B84A-33CD-962C-AA68-7F104EED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A83AC-8461-6104-1C1F-6C4145616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F50DD-4202-DA4F-0459-6A70191CE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88D59-6856-CFA6-645B-C2E1966E0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5299-AB44-DC4F-8298-06AEFD226229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10C50-2FCE-8DA3-3438-986419B5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5892B-ACB9-ACC3-7436-3BEFB182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0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F8E6F-5274-ACDD-1E6D-A80D1DB0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28CCF-7080-BE59-7BD9-CCC2ED45D1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FE3B8-7B32-998D-7AA4-21A43CAAF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10916-C9AD-D03C-635A-1E2A37604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8E9D-F6CC-0947-8760-9486F5A9BD4E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FEA85-ABCF-482F-64F0-5B10BE536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D8DE5-1008-63B1-8519-EC1380C60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7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DF11-B9B1-9163-897C-B867113DD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F407D-F5F0-7BAC-581A-9B110DC8E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C6F98-6C47-67DD-D8C9-1AACF950B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264DC-E2D6-6445-DBA6-BF35E556C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355A02-A780-9BF7-39F0-644A75018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9B95E2-F33E-7DEA-8F81-D375A82DE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333D-DA02-4547-A559-BB43EA2A6211}" type="datetime1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F4A685-0D32-C274-7CFF-AE00FD1D4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3589F-85FF-650C-F918-71B5DE8A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9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C66EC-950C-2590-72E6-B4C5879D4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8B20E9-D5E7-B76B-3A6C-1290DAB77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16AD-823D-A94C-BC2B-FA7915FA297C}" type="datetime1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A9786-E227-9511-BB2B-E0735C980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275B3-33CC-E823-DF6B-2EA31344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4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269E8-52CB-CE73-8E72-A8097087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D333-79F5-664E-B69C-6AFCF3460939}" type="datetime1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ADC570-14B9-DB5A-ABE5-08EE60BA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5D033-E99D-20E2-8A08-C0CF5C12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29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83B62-B402-B9F8-F23C-D9BC4C484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69626-91C5-A1BC-9CF2-ED0339E03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3BD16-FB9F-18E8-EE1F-0CE732C99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3A7B0-472D-C196-8E3F-9371B12F3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CB84-21D6-F747-9C42-BE8C3EF55772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0CF17-9BE0-0CC8-2738-9008A27E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E37C3-7AE7-943E-DCC5-F3DF3057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32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7ACE-FB26-B2EB-6CCF-B7C2CF152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4D9216-2ECD-43BD-A0E9-8B1665542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3E7DD-7BB4-F3D1-CF14-0C85E2632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31017-991B-888A-C8D5-775B5A3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1E44B-1A20-0640-A37F-A9ED0485873B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BF217-B1EF-6C98-828E-B2487767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1C656-53BF-9D38-C5EA-7DD31B2D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2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78F0-76D7-389F-79B8-E667B582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7BBBB-CE92-AE55-BA3B-21FEB07D2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BB23D-6486-9EB2-2067-8D099B25B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78EE-9966-5B4E-959F-86C895F1DFC7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EE7DF-D597-9B51-60B9-CCC2A80E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D95A3-8A3B-1D81-7705-40182217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27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BAD24C-A172-4C5B-2BB5-AAA93AEA2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47301-05F1-8234-D4BD-A4A9DFF69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922C-7D96-21FB-6367-A4EF80A2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8C08-9193-7C4F-8305-3D1CE11FCB84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2A007-3BDE-2FBF-B726-E70D7108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44A42-55B5-6743-6110-5FAC6957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8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4475F7-EA01-3ECA-72A5-17BBE6CC0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5D259-4C29-3AA8-AAE6-828BC9BFC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5A1A0-80FC-D6D4-7FF8-1FEF13545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DD3BA-D26D-C744-B0E9-CB7B21E6F474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390B1-CDE4-AF58-3244-C01322AB4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F6161-1C2C-3E06-C348-9646B3818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C051E-25F0-BE4E-9BA3-7274B3E06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06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0B89-5A50-8B7D-7FFB-F09BCCFCE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6592" y="2660833"/>
            <a:ext cx="9144000" cy="1756467"/>
          </a:xfrm>
        </p:spPr>
        <p:txBody>
          <a:bodyPr>
            <a:noAutofit/>
          </a:bodyPr>
          <a:lstStyle/>
          <a:p>
            <a:r>
              <a:rPr lang="ru-RU" sz="3600" b="1" dirty="0"/>
              <a:t>Разработка базы данных для хранения и анализа статистики игроков и команд NBA с реализацией расчетных метрик эффективности</a:t>
            </a: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E7EA0-9C90-B1AB-445C-0BEFA9A27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002" y="4772225"/>
            <a:ext cx="9144000" cy="883900"/>
          </a:xfrm>
        </p:spPr>
        <p:txBody>
          <a:bodyPr/>
          <a:lstStyle/>
          <a:p>
            <a:pPr algn="l"/>
            <a:r>
              <a:rPr lang="ru-RU" dirty="0"/>
              <a:t>Студент: Журавлев Иван Дмитриевич ИУ7-66Б</a:t>
            </a:r>
          </a:p>
          <a:p>
            <a:pPr algn="l"/>
            <a:r>
              <a:rPr lang="ru-RU" dirty="0"/>
              <a:t>Научный руководитель: </a:t>
            </a:r>
            <a:r>
              <a:rPr lang="ru-RU" dirty="0" err="1"/>
              <a:t>Кивва</a:t>
            </a:r>
            <a:r>
              <a:rPr lang="ru-RU" dirty="0"/>
              <a:t> Кирилл Андреевич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63908-BE34-51CB-D6BC-410102F09E15}"/>
              </a:ext>
            </a:extLst>
          </p:cNvPr>
          <p:cNvSpPr txBox="1"/>
          <p:nvPr/>
        </p:nvSpPr>
        <p:spPr>
          <a:xfrm>
            <a:off x="1606592" y="238463"/>
            <a:ext cx="102196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Министерство</a:t>
            </a:r>
            <a:r>
              <a:rPr lang="en-US" b="1" dirty="0"/>
              <a:t> </a:t>
            </a:r>
            <a:r>
              <a:rPr lang="en-US" b="1" dirty="0" err="1"/>
              <a:t>науки</a:t>
            </a:r>
            <a:r>
              <a:rPr lang="en-US" b="1" dirty="0"/>
              <a:t> </a:t>
            </a:r>
            <a:r>
              <a:rPr lang="en-US" b="1" dirty="0" err="1"/>
              <a:t>и</a:t>
            </a:r>
            <a:r>
              <a:rPr lang="en-US" b="1" dirty="0"/>
              <a:t> </a:t>
            </a:r>
            <a:r>
              <a:rPr lang="en-US" b="1" dirty="0" err="1"/>
              <a:t>высшего</a:t>
            </a:r>
            <a:r>
              <a:rPr lang="en-US" b="1" dirty="0"/>
              <a:t> </a:t>
            </a:r>
            <a:r>
              <a:rPr lang="en-US" b="1" dirty="0" err="1"/>
              <a:t>образования</a:t>
            </a:r>
            <a:r>
              <a:rPr lang="en-US" b="1" dirty="0"/>
              <a:t> </a:t>
            </a:r>
            <a:r>
              <a:rPr lang="en-US" b="1" dirty="0" err="1"/>
              <a:t>Российской</a:t>
            </a:r>
            <a:r>
              <a:rPr lang="en-US" b="1" dirty="0"/>
              <a:t> </a:t>
            </a:r>
            <a:r>
              <a:rPr lang="en-US" b="1" dirty="0" err="1"/>
              <a:t>Федерации</a:t>
            </a:r>
            <a:br>
              <a:rPr lang="ru-RU" b="1" dirty="0"/>
            </a:br>
            <a:r>
              <a:rPr lang="en-US" b="1" dirty="0" err="1"/>
              <a:t>Федеральное</a:t>
            </a:r>
            <a:r>
              <a:rPr lang="en-US" b="1" dirty="0"/>
              <a:t> </a:t>
            </a:r>
            <a:r>
              <a:rPr lang="en-US" b="1" dirty="0" err="1"/>
              <a:t>государственное</a:t>
            </a:r>
            <a:r>
              <a:rPr lang="en-US" b="1" dirty="0"/>
              <a:t> </a:t>
            </a:r>
            <a:r>
              <a:rPr lang="en-US" b="1" dirty="0" err="1"/>
              <a:t>автономное</a:t>
            </a:r>
            <a:r>
              <a:rPr lang="en-US" b="1" dirty="0"/>
              <a:t> </a:t>
            </a:r>
            <a:r>
              <a:rPr lang="en-US" b="1" dirty="0" err="1"/>
              <a:t>образовательное</a:t>
            </a:r>
            <a:r>
              <a:rPr lang="en-US" b="1" dirty="0"/>
              <a:t> </a:t>
            </a:r>
            <a:r>
              <a:rPr lang="en-US" b="1" dirty="0" err="1"/>
              <a:t>учреждение</a:t>
            </a:r>
            <a:r>
              <a:rPr lang="en-US" b="1" dirty="0"/>
              <a:t> </a:t>
            </a:r>
            <a:r>
              <a:rPr lang="en-US" b="1" dirty="0" err="1"/>
              <a:t>высшего</a:t>
            </a:r>
            <a:r>
              <a:rPr lang="en-US" b="1" dirty="0"/>
              <a:t> </a:t>
            </a:r>
            <a:r>
              <a:rPr lang="en-US" b="1" dirty="0" err="1"/>
              <a:t>образования</a:t>
            </a:r>
            <a:endParaRPr lang="ru-RU" b="1" dirty="0"/>
          </a:p>
          <a:p>
            <a:pPr algn="ctr"/>
            <a:r>
              <a:rPr lang="en-US" b="1" dirty="0"/>
              <a:t>«</a:t>
            </a:r>
            <a:r>
              <a:rPr lang="en-US" b="1" dirty="0" err="1"/>
              <a:t>Московский</a:t>
            </a:r>
            <a:r>
              <a:rPr lang="en-US" b="1" dirty="0"/>
              <a:t> </a:t>
            </a:r>
            <a:r>
              <a:rPr lang="en-US" b="1" dirty="0" err="1"/>
              <a:t>государственный</a:t>
            </a:r>
            <a:r>
              <a:rPr lang="en-US" b="1" dirty="0"/>
              <a:t> </a:t>
            </a:r>
            <a:r>
              <a:rPr lang="en-US" b="1" dirty="0" err="1"/>
              <a:t>технический</a:t>
            </a:r>
            <a:r>
              <a:rPr lang="en-US" b="1" dirty="0"/>
              <a:t> </a:t>
            </a:r>
            <a:r>
              <a:rPr lang="en-US" b="1" dirty="0" err="1"/>
              <a:t>университет</a:t>
            </a:r>
            <a:r>
              <a:rPr lang="en-US" b="1" dirty="0"/>
              <a:t> </a:t>
            </a:r>
            <a:r>
              <a:rPr lang="en-US" b="1" dirty="0" err="1"/>
              <a:t>имени</a:t>
            </a:r>
            <a:r>
              <a:rPr lang="en-US" b="1" dirty="0"/>
              <a:t> Н.Э. </a:t>
            </a:r>
            <a:r>
              <a:rPr lang="en-US" b="1" dirty="0" err="1"/>
              <a:t>Баумана</a:t>
            </a:r>
            <a:endParaRPr lang="ru-RU" b="1" dirty="0"/>
          </a:p>
          <a:p>
            <a:pPr algn="ctr"/>
            <a:r>
              <a:rPr lang="en-US" b="1" dirty="0"/>
              <a:t>(</a:t>
            </a:r>
            <a:r>
              <a:rPr lang="en-US" b="1" dirty="0" err="1"/>
              <a:t>национальный</a:t>
            </a:r>
            <a:r>
              <a:rPr lang="en-US" b="1" dirty="0"/>
              <a:t> </a:t>
            </a:r>
            <a:r>
              <a:rPr lang="en-US" b="1" dirty="0" err="1"/>
              <a:t>исследовательский</a:t>
            </a:r>
            <a:r>
              <a:rPr lang="en-US" b="1" dirty="0"/>
              <a:t> </a:t>
            </a:r>
            <a:r>
              <a:rPr lang="en-US" b="1" dirty="0" err="1"/>
              <a:t>университет</a:t>
            </a:r>
            <a:r>
              <a:rPr lang="en-US" b="1" dirty="0"/>
              <a:t>)» </a:t>
            </a:r>
            <a:endParaRPr lang="ru-RU" b="1" dirty="0"/>
          </a:p>
          <a:p>
            <a:pPr algn="ctr"/>
            <a:r>
              <a:rPr lang="en-US" b="1" dirty="0"/>
              <a:t>(МГТУ </a:t>
            </a:r>
            <a:r>
              <a:rPr lang="en-US" b="1" dirty="0" err="1"/>
              <a:t>им</a:t>
            </a:r>
            <a:r>
              <a:rPr lang="en-US" b="1" dirty="0"/>
              <a:t>. Н.Э. </a:t>
            </a:r>
            <a:r>
              <a:rPr lang="en-US" b="1" dirty="0" err="1"/>
              <a:t>Баумана</a:t>
            </a:r>
            <a:r>
              <a:rPr lang="en-US" b="1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B5CAE0-0BC8-059D-FB09-61748D1B1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02" y="238463"/>
            <a:ext cx="1251590" cy="1477328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E812D51B-70DF-E362-58BE-6BF4916AB00E}"/>
              </a:ext>
            </a:extLst>
          </p:cNvPr>
          <p:cNvSpPr txBox="1">
            <a:spLocks/>
          </p:cNvSpPr>
          <p:nvPr/>
        </p:nvSpPr>
        <p:spPr>
          <a:xfrm>
            <a:off x="4927002" y="6121117"/>
            <a:ext cx="2325445" cy="498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Москва,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597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95BA-75DE-95D8-1D60-EBC0DEFE3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247"/>
          </a:xfrm>
        </p:spPr>
        <p:txBody>
          <a:bodyPr>
            <a:normAutofit/>
          </a:bodyPr>
          <a:lstStyle/>
          <a:p>
            <a:r>
              <a:rPr lang="ru-RU" sz="4000" b="1" dirty="0"/>
              <a:t>Цель и задачи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AB3A-C9F4-E1B6-AF28-43D428358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6372"/>
            <a:ext cx="10515600" cy="526650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Целью работы</a:t>
            </a:r>
            <a:r>
              <a:rPr lang="en-US" b="1" dirty="0"/>
              <a:t>:</a:t>
            </a:r>
            <a:r>
              <a:rPr lang="ru-RU" b="1" dirty="0"/>
              <a:t> </a:t>
            </a:r>
            <a:r>
              <a:rPr lang="ru-RU" dirty="0"/>
              <a:t>разработка базы данных для хранения и анализа статистики игроков и команд Национальной баскетбольной ассоциации с реализацией автоматизированных расчётов комплексных показателей эффективности.</a:t>
            </a:r>
          </a:p>
          <a:p>
            <a:pPr marL="0" indent="0">
              <a:buNone/>
            </a:pPr>
            <a:r>
              <a:rPr lang="ru-RU" b="1" dirty="0"/>
              <a:t>Задачи:</a:t>
            </a:r>
          </a:p>
          <a:p>
            <a:r>
              <a:rPr lang="ru-RU" dirty="0"/>
              <a:t>Провести анализ предметной области и существующих решений;</a:t>
            </a:r>
          </a:p>
          <a:p>
            <a:r>
              <a:rPr lang="ru-RU" dirty="0"/>
              <a:t>Выделить сущности, описать ролевую модель;</a:t>
            </a:r>
          </a:p>
          <a:p>
            <a:r>
              <a:rPr lang="ru-RU" dirty="0"/>
              <a:t>Спроектировать структуру базы данных</a:t>
            </a:r>
            <a:r>
              <a:rPr lang="en-US" dirty="0"/>
              <a:t>: </a:t>
            </a:r>
            <a:r>
              <a:rPr lang="ru-RU" dirty="0"/>
              <a:t>таблицы, индексы, ограничения целостности, триггеры;</a:t>
            </a:r>
          </a:p>
          <a:p>
            <a:r>
              <a:rPr lang="ru-RU" dirty="0"/>
              <a:t>Спроектировать и реализовать алгоритмы вычисления спортивных метрик на уровне СУБД;</a:t>
            </a:r>
          </a:p>
          <a:p>
            <a:r>
              <a:rPr lang="ru-RU" dirty="0"/>
              <a:t>Разработать программное обеспечение и механизм кэширования;</a:t>
            </a:r>
          </a:p>
          <a:p>
            <a:r>
              <a:rPr lang="ru-RU" dirty="0"/>
              <a:t>Провести исследование производительности при различных объемах данных, стратегиях индексации и нагрузке.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B948A-2D97-973B-9826-72C1C7872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151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A748A-514E-8591-90B1-2A52FBCA9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8629-3282-AA23-98A7-8A913377F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247"/>
          </a:xfrm>
        </p:spPr>
        <p:txBody>
          <a:bodyPr>
            <a:normAutofit/>
          </a:bodyPr>
          <a:lstStyle/>
          <a:p>
            <a:r>
              <a:rPr lang="ru-RU" sz="4000" b="1" dirty="0"/>
              <a:t>Анализ существующих решений</a:t>
            </a:r>
            <a:endParaRPr lang="en-US" sz="40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C645BC-518C-62CB-5C16-BB470749C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743566"/>
              </p:ext>
            </p:extLst>
          </p:nvPr>
        </p:nvGraphicFramePr>
        <p:xfrm>
          <a:off x="838199" y="1536395"/>
          <a:ext cx="10515598" cy="4339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41283">
                  <a:extLst>
                    <a:ext uri="{9D8B030D-6E8A-4147-A177-3AD203B41FA5}">
                      <a16:colId xmlns:a16="http://schemas.microsoft.com/office/drawing/2014/main" val="1211379220"/>
                    </a:ext>
                  </a:extLst>
                </a:gridCol>
                <a:gridCol w="2560857">
                  <a:extLst>
                    <a:ext uri="{9D8B030D-6E8A-4147-A177-3AD203B41FA5}">
                      <a16:colId xmlns:a16="http://schemas.microsoft.com/office/drawing/2014/main" val="3218229386"/>
                    </a:ext>
                  </a:extLst>
                </a:gridCol>
                <a:gridCol w="2672198">
                  <a:extLst>
                    <a:ext uri="{9D8B030D-6E8A-4147-A177-3AD203B41FA5}">
                      <a16:colId xmlns:a16="http://schemas.microsoft.com/office/drawing/2014/main" val="628621273"/>
                    </a:ext>
                  </a:extLst>
                </a:gridCol>
                <a:gridCol w="2041260">
                  <a:extLst>
                    <a:ext uri="{9D8B030D-6E8A-4147-A177-3AD203B41FA5}">
                      <a16:colId xmlns:a16="http://schemas.microsoft.com/office/drawing/2014/main" val="204911085"/>
                    </a:ext>
                  </a:extLst>
                </a:gridCol>
              </a:tblGrid>
              <a:tr h="652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Критерий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NBA.com Stats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/>
                        <a:t>BasketballReference</a:t>
                      </a:r>
                      <a:r>
                        <a:rPr lang="en-US" sz="1200" b="1" dirty="0"/>
                        <a:t> 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ESPN Stats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285610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Просмотр статистики матчей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96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+ 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+ 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448283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Фильтрация по сезону, позиции, команде 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частично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+ 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частично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5356458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Расчёт </a:t>
                      </a:r>
                      <a:r>
                        <a:rPr lang="en-US" sz="1200" dirty="0"/>
                        <a:t>TS%, </a:t>
                      </a:r>
                      <a:r>
                        <a:rPr lang="en-US" sz="1200" dirty="0" err="1"/>
                        <a:t>eFG</a:t>
                      </a:r>
                      <a:r>
                        <a:rPr lang="en-US" sz="1200" dirty="0"/>
                        <a:t>%, PER, BPM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+ (формулы скрыты)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+ (формулы открыты )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частично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022893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Доступ к сырым данным через API (произвольные запросы)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96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–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96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–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–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158624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Интерактивное сравнение стат. профилей игроков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частично 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96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–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96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612722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Ролевое разграничение доступа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96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–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96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–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96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–</a:t>
                      </a:r>
                      <a:endParaRPr lang="en-US" sz="1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816166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Локальное хранение, воспроизводимость расчётов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96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–</a:t>
                      </a:r>
                      <a:endParaRPr lang="en-US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96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96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–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8585037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5CF86-4024-9E3A-FB0B-AF267628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634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A2127-117D-5D9B-9782-617D6EF6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3410F-5881-681B-8756-260CFD61A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247"/>
          </a:xfrm>
        </p:spPr>
        <p:txBody>
          <a:bodyPr>
            <a:normAutofit/>
          </a:bodyPr>
          <a:lstStyle/>
          <a:p>
            <a:r>
              <a:rPr lang="ru-RU" sz="4000" b="1" dirty="0"/>
              <a:t>Диаграмма сущность-связь</a:t>
            </a:r>
            <a:endParaRPr lang="en-US" sz="4000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40340A-5CBF-EC4E-2C40-6BAA628D5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77901A-28DC-B85C-2C5A-6C095C1DD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353" y="1162461"/>
            <a:ext cx="6325293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35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4A01F-F560-9602-E088-0F80FFE0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A7A7-9ADD-B435-D1B8-362C43FF1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24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Ролевая модель и диаграмма прецедентов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FC8D432-526B-0F7A-3BC8-C2104F7E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2D62A5-6DA3-419A-980F-97910EEAD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28" y="1226371"/>
            <a:ext cx="10200540" cy="500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66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12508-5819-D882-0324-17B11F8A6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04090-2D25-96C6-54C1-BB282D455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247"/>
          </a:xfrm>
        </p:spPr>
        <p:txBody>
          <a:bodyPr>
            <a:normAutofit/>
          </a:bodyPr>
          <a:lstStyle/>
          <a:p>
            <a:r>
              <a:rPr lang="ru-RU" b="1" dirty="0"/>
              <a:t>Формализация задачи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FBA160-F295-471D-3678-70B198E6B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9F17E3-E02F-7397-DD84-5FB7D4EA5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666" y="1226372"/>
            <a:ext cx="9228667" cy="463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46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E56D2-CD83-F555-7083-EE54412A7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025B-B644-B784-1390-9CBE3AE89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247"/>
          </a:xfrm>
        </p:spPr>
        <p:txBody>
          <a:bodyPr>
            <a:normAutofit/>
          </a:bodyPr>
          <a:lstStyle/>
          <a:p>
            <a:r>
              <a:rPr lang="ru-RU" sz="4000" b="1" dirty="0"/>
              <a:t>Схема базы данных</a:t>
            </a:r>
            <a:endParaRPr lang="en-US" sz="4000" b="1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7B5BEF2-DA76-5111-EA0A-C0AFABCC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B093C7-1916-A589-88E1-7C66DC980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20" y="1040412"/>
            <a:ext cx="5946760" cy="550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15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B3CBB-09C8-386B-8C26-F8D0B92E0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3FAF8-22DB-61D7-3163-5F32190BD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24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Алгоритм работы триггера ограничения целостности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0E3AFD-86A4-A18C-72A1-6CA36402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B5D2060-E7CD-B86F-4938-4F3BCA0D8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397" y="1328093"/>
            <a:ext cx="5803205" cy="502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414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615BD-7D59-89D7-E8CA-CAD45A5C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0F30C-D917-B6D0-F087-A6F38C2DC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24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Архитектура программного обеспечения</a:t>
            </a:r>
            <a:br>
              <a:rPr lang="ru-RU" b="1" dirty="0"/>
            </a:br>
            <a:endParaRPr lang="en-US" sz="40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22CCD-5479-60AD-F896-3281C1F6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5B59D5-C79C-A3AA-357E-B588218E5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33" y="1476834"/>
            <a:ext cx="10888133" cy="390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25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1A15B-52B3-F92A-0473-91F8747F3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EBFA-F377-A3CB-17E5-6FFC4E4F5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24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Диаграмма последовательности</a:t>
            </a:r>
            <a:br>
              <a:rPr lang="ru-RU" b="1" dirty="0"/>
            </a:br>
            <a:endParaRPr lang="en-US" sz="40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91905-94AD-FC8E-7A7C-F78C6F1C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8ECE8BEE-FB8B-EA30-E7EF-7F199778EE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860769"/>
              </p:ext>
            </p:extLst>
          </p:nvPr>
        </p:nvGraphicFramePr>
        <p:xfrm>
          <a:off x="1147233" y="1289558"/>
          <a:ext cx="9897533" cy="4618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000685" imgH="2800080" progId="Acrobat.Document.DC">
                  <p:embed/>
                </p:oleObj>
              </mc:Choice>
              <mc:Fallback>
                <p:oleObj name="Acrobat Document" r:id="rId2" imgW="6000685" imgH="280008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7233" y="1289558"/>
                        <a:ext cx="9897533" cy="4618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264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E9BB3-FBEE-4A67-E2F5-41AAB0C83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CDDD2-6F44-AAA6-6560-6F5A37E2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247"/>
          </a:xfrm>
        </p:spPr>
        <p:txBody>
          <a:bodyPr>
            <a:normAutofit/>
          </a:bodyPr>
          <a:lstStyle/>
          <a:p>
            <a:r>
              <a:rPr lang="ru-RU" sz="4000" b="1" dirty="0"/>
              <a:t>Средства реализации</a:t>
            </a:r>
            <a:endParaRPr lang="en-US" sz="40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08FAEF-C374-FD55-394E-EB70EF364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208592"/>
              </p:ext>
            </p:extLst>
          </p:nvPr>
        </p:nvGraphicFramePr>
        <p:xfrm>
          <a:off x="838199" y="1473200"/>
          <a:ext cx="10515600" cy="29153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3401">
                  <a:extLst>
                    <a:ext uri="{9D8B030D-6E8A-4147-A177-3AD203B41FA5}">
                      <a16:colId xmlns:a16="http://schemas.microsoft.com/office/drawing/2014/main" val="3545925511"/>
                    </a:ext>
                  </a:extLst>
                </a:gridCol>
                <a:gridCol w="1972733">
                  <a:extLst>
                    <a:ext uri="{9D8B030D-6E8A-4147-A177-3AD203B41FA5}">
                      <a16:colId xmlns:a16="http://schemas.microsoft.com/office/drawing/2014/main" val="397360377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3164639937"/>
                    </a:ext>
                  </a:extLst>
                </a:gridCol>
                <a:gridCol w="2040466">
                  <a:extLst>
                    <a:ext uri="{9D8B030D-6E8A-4147-A177-3AD203B41FA5}">
                      <a16:colId xmlns:a16="http://schemas.microsoft.com/office/drawing/2014/main" val="774869190"/>
                    </a:ext>
                  </a:extLst>
                </a:gridCol>
              </a:tblGrid>
              <a:tr h="311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 dirty="0"/>
                        <a:t>Критерий </a:t>
                      </a:r>
                      <a:endParaRPr lang="en-US" sz="16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PostgreSQL 15</a:t>
                      </a:r>
                      <a:endParaRPr lang="en-US" sz="16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MySQL 8 </a:t>
                      </a:r>
                      <a:endParaRPr lang="en-US" sz="16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SQLite 3</a:t>
                      </a:r>
                      <a:endParaRPr lang="en-US" sz="1600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934840"/>
                  </a:ext>
                </a:extLst>
              </a:tr>
              <a:tr h="842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Серверный процедурный язык для хранимой логики 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Да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Да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Да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260322"/>
                  </a:ext>
                </a:extLst>
              </a:tr>
              <a:tr h="53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Отложенная проверка ограничений целостности 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Да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Нет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Нет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772148"/>
                  </a:ext>
                </a:extLst>
              </a:tr>
              <a:tr h="53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Штатный асинхронный драйвер для выбранного серверного стека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Да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Нет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Нет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701097"/>
                  </a:ext>
                </a:extLst>
              </a:tr>
              <a:tr h="53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Атомарная вставка с обновлением существующей строки</a:t>
                      </a:r>
                      <a:endParaRPr lang="en-US" sz="16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Да</a:t>
                      </a:r>
                      <a:endParaRPr lang="en-US" sz="16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Да</a:t>
                      </a:r>
                      <a:endParaRPr lang="en-US" sz="16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Да</a:t>
                      </a:r>
                      <a:endParaRPr lang="en-US" sz="16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08394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496F371-97BB-8C13-DB47-78BEC66D3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585447"/>
            <a:ext cx="10515600" cy="2136028"/>
          </a:xfrm>
        </p:spPr>
        <p:txBody>
          <a:bodyPr>
            <a:normAutofit/>
          </a:bodyPr>
          <a:lstStyle/>
          <a:p>
            <a:r>
              <a:rPr lang="ru-RU" sz="2400" dirty="0"/>
              <a:t>СУБД: </a:t>
            </a:r>
            <a:r>
              <a:rPr lang="en-US" sz="2400" dirty="0"/>
              <a:t>PostgreSQL 15</a:t>
            </a:r>
          </a:p>
          <a:p>
            <a:r>
              <a:rPr lang="ru-RU" sz="2400" dirty="0"/>
              <a:t>Внешнее кэширование</a:t>
            </a:r>
            <a:r>
              <a:rPr lang="en-US" sz="2400" dirty="0"/>
              <a:t>: Redis 7</a:t>
            </a:r>
          </a:p>
          <a:p>
            <a:r>
              <a:rPr lang="ru-RU" sz="2400" dirty="0"/>
              <a:t>Серверное приложение: </a:t>
            </a:r>
            <a:r>
              <a:rPr lang="en-US" sz="2400" dirty="0"/>
              <a:t>Python 3.11 + </a:t>
            </a:r>
            <a:r>
              <a:rPr lang="en-US" sz="2400" dirty="0" err="1"/>
              <a:t>FastAPI</a:t>
            </a:r>
            <a:endParaRPr lang="ru-RU" sz="2400" dirty="0"/>
          </a:p>
          <a:p>
            <a:r>
              <a:rPr lang="ru-RU" sz="2400" dirty="0"/>
              <a:t>Клиентское приложение: </a:t>
            </a:r>
            <a:r>
              <a:rPr lang="en-US" sz="2400" dirty="0"/>
              <a:t>React 18 + TypeScript + Recharts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C548657-1737-E5E0-5EC7-05D5D52A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873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DA29-30B5-FCA5-DCC6-FDB0BAF5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B8F6-F810-D073-CDBB-F2B937CFE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247"/>
          </a:xfrm>
        </p:spPr>
        <p:txBody>
          <a:bodyPr>
            <a:normAutofit/>
          </a:bodyPr>
          <a:lstStyle/>
          <a:p>
            <a:r>
              <a:rPr lang="ru-RU" sz="4000" b="1" dirty="0"/>
              <a:t>Программный интерфейс (</a:t>
            </a:r>
            <a:r>
              <a:rPr lang="en-US" sz="4000" b="1" dirty="0"/>
              <a:t>REST API)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6D175-2C32-0644-7DF0-F4D0FE3D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3D16F0E6-8F84-9DF0-2AC4-59E23A859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956308"/>
              </p:ext>
            </p:extLst>
          </p:nvPr>
        </p:nvGraphicFramePr>
        <p:xfrm>
          <a:off x="838200" y="1779681"/>
          <a:ext cx="10769601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8515">
                  <a:extLst>
                    <a:ext uri="{9D8B030D-6E8A-4147-A177-3AD203B41FA5}">
                      <a16:colId xmlns:a16="http://schemas.microsoft.com/office/drawing/2014/main" val="3545925511"/>
                    </a:ext>
                  </a:extLst>
                </a:gridCol>
                <a:gridCol w="2878830">
                  <a:extLst>
                    <a:ext uri="{9D8B030D-6E8A-4147-A177-3AD203B41FA5}">
                      <a16:colId xmlns:a16="http://schemas.microsoft.com/office/drawing/2014/main" val="3973603774"/>
                    </a:ext>
                  </a:extLst>
                </a:gridCol>
                <a:gridCol w="4370273">
                  <a:extLst>
                    <a:ext uri="{9D8B030D-6E8A-4147-A177-3AD203B41FA5}">
                      <a16:colId xmlns:a16="http://schemas.microsoft.com/office/drawing/2014/main" val="3164639937"/>
                    </a:ext>
                  </a:extLst>
                </a:gridCol>
                <a:gridCol w="2531983">
                  <a:extLst>
                    <a:ext uri="{9D8B030D-6E8A-4147-A177-3AD203B41FA5}">
                      <a16:colId xmlns:a16="http://schemas.microsoft.com/office/drawing/2014/main" val="774869190"/>
                    </a:ext>
                  </a:extLst>
                </a:gridCol>
              </a:tblGrid>
              <a:tr h="311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</a:t>
                      </a:r>
                      <a:r>
                        <a:rPr lang="ru-RU" sz="1600" dirty="0"/>
                        <a:t> 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Путь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Назначение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Варианты ответа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934840"/>
                  </a:ext>
                </a:extLst>
              </a:tr>
              <a:tr h="842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endParaRPr lang="en-US" sz="16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/stats/leaders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Вывод рейтинга игроков по выбранной метрике (PER, BPM и др.)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рейтинг игроков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422: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некорректная метрика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260322"/>
                  </a:ext>
                </a:extLst>
              </a:tr>
              <a:tr h="53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endParaRPr lang="en-US" sz="16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/stats/advanced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Расчёт расширенных метрик за сезон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расширенные метрики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422: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ошибка параметров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772148"/>
                  </a:ext>
                </a:extLst>
              </a:tr>
              <a:tr h="53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endParaRPr lang="en-US" sz="16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/stats/compare/players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Сопоставление профилей двух игроков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сравнение игроков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404: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не найден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701097"/>
                  </a:ext>
                </a:extLst>
              </a:tr>
              <a:tr h="53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</a:t>
                      </a:r>
                      <a:endParaRPr lang="en-US" sz="1600" b="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/admin/refresh/{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season_id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6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Вызов хранимых процедур для массового пересчёта витрин</a:t>
                      </a:r>
                      <a:endParaRPr lang="en-US" sz="16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пересчёт выполнен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401: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неверный </a:t>
                      </a:r>
                      <a:r>
                        <a:rPr lang="ru-RU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-Key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</a:p>
                    <a:p>
                      <a:pPr>
                        <a:buNone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404: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сезон не найден</a:t>
                      </a:r>
                      <a:endParaRPr lang="en-US" sz="16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08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845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8AD1A-843C-24C8-7206-28AE1F7A5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E2A3705-9EF9-8325-8A35-5EEA82EDC78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61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Пользовательский интерфейс</a:t>
            </a:r>
            <a:endParaRPr lang="ru-RU" sz="4000" b="1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500A1F-6551-8375-6649-83CD71E0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579C346-0D54-8CF5-D162-01F7B8613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033" y="1226372"/>
            <a:ext cx="9795934" cy="5118274"/>
          </a:xfrm>
        </p:spPr>
      </p:pic>
    </p:spTree>
    <p:extLst>
      <p:ext uri="{BB962C8B-B14F-4D97-AF65-F5344CB8AC3E}">
        <p14:creationId xmlns:p14="http://schemas.microsoft.com/office/powerpoint/2010/main" val="1627106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B42DC-FB4C-C252-1ED5-88F01E110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7CC95DE-68B1-5F6E-BADC-CF2AF2623B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61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Исследование влияния объема данных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065F75A-6FD5-D435-E65D-03EA4EB2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1" name="Объект 20">
            <a:extLst>
              <a:ext uri="{FF2B5EF4-FFF2-40B4-BE49-F238E27FC236}">
                <a16:creationId xmlns:a16="http://schemas.microsoft.com/office/drawing/2014/main" id="{EF2B516F-16EA-C886-6B9D-15A576DB0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1125" y="1825625"/>
            <a:ext cx="7769749" cy="4351338"/>
          </a:xfrm>
        </p:spPr>
      </p:pic>
    </p:spTree>
    <p:extLst>
      <p:ext uri="{BB962C8B-B14F-4D97-AF65-F5344CB8AC3E}">
        <p14:creationId xmlns:p14="http://schemas.microsoft.com/office/powerpoint/2010/main" val="3002420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DB43-93F8-DDBA-F8D1-55C16738B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72C26CB-3A03-8894-4C1B-F883542F18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61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Исследование влияния индексов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7E2F85C-C387-23B6-81B7-A3114D79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9EE1133B-AA9D-76CE-7968-37ED67800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685" y="1413933"/>
            <a:ext cx="10774630" cy="4864630"/>
          </a:xfrm>
        </p:spPr>
      </p:pic>
    </p:spTree>
    <p:extLst>
      <p:ext uri="{BB962C8B-B14F-4D97-AF65-F5344CB8AC3E}">
        <p14:creationId xmlns:p14="http://schemas.microsoft.com/office/powerpoint/2010/main" val="629997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9084-95FE-E0B5-8AD5-BD9B97747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DF89C0D-68DB-399C-B820-FC676B6B7529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1209867" cy="861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Исследование влияния кэширования и нагрузки</a:t>
            </a:r>
            <a:endParaRPr lang="ru-RU" sz="4000" b="1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A2BC9D-5CE7-9AA4-C792-FAA029B2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620D38A4-815C-3048-6B2C-65842619A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831901"/>
              </p:ext>
            </p:extLst>
          </p:nvPr>
        </p:nvGraphicFramePr>
        <p:xfrm>
          <a:off x="711199" y="5130510"/>
          <a:ext cx="10769601" cy="12985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7668">
                  <a:extLst>
                    <a:ext uri="{9D8B030D-6E8A-4147-A177-3AD203B41FA5}">
                      <a16:colId xmlns:a16="http://schemas.microsoft.com/office/drawing/2014/main" val="354592551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973603774"/>
                    </a:ext>
                  </a:extLst>
                </a:gridCol>
                <a:gridCol w="3199950">
                  <a:extLst>
                    <a:ext uri="{9D8B030D-6E8A-4147-A177-3AD203B41FA5}">
                      <a16:colId xmlns:a16="http://schemas.microsoft.com/office/drawing/2014/main" val="3164639937"/>
                    </a:ext>
                  </a:extLst>
                </a:gridCol>
                <a:gridCol w="2531983">
                  <a:extLst>
                    <a:ext uri="{9D8B030D-6E8A-4147-A177-3AD203B41FA5}">
                      <a16:colId xmlns:a16="http://schemas.microsoft.com/office/drawing/2014/main" val="774869190"/>
                    </a:ext>
                  </a:extLst>
                </a:gridCol>
              </a:tblGrid>
              <a:tr h="330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Сценарий</a:t>
                      </a:r>
                      <a:r>
                        <a:rPr lang="ru-RU" sz="1600" b="1" dirty="0"/>
                        <a:t> </a:t>
                      </a:r>
                      <a:endParaRPr lang="en-US" sz="16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Медиана (мс)</a:t>
                      </a:r>
                      <a:endParaRPr lang="en-US" sz="16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Среднее (мс) </a:t>
                      </a:r>
                      <a:endParaRPr lang="en-US" sz="16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P95 (</a:t>
                      </a:r>
                      <a:r>
                        <a:rPr lang="ru-RU" b="1" dirty="0"/>
                        <a:t>мс) </a:t>
                      </a:r>
                      <a:endParaRPr lang="en-US" sz="1600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934840"/>
                  </a:ext>
                </a:extLst>
              </a:tr>
              <a:tr h="567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Cache Miss, PostgreSQL</a:t>
                      </a:r>
                      <a:endParaRPr lang="en-US" sz="16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11,68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11,76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15,50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260322"/>
                  </a:ext>
                </a:extLst>
              </a:tr>
              <a:tr h="3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Cache Hit, Redis</a:t>
                      </a:r>
                      <a:endParaRPr lang="en-US" sz="16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3,69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4,66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11,57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772148"/>
                  </a:ext>
                </a:extLst>
              </a:tr>
            </a:tbl>
          </a:graphicData>
        </a:graphic>
      </p:graphicFrame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CAE631C-957A-2718-9CCF-196754F30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509" y="1377860"/>
            <a:ext cx="6656979" cy="368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07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4446C-11B6-4C85-3779-7CD85FFC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250D-EBED-D00F-6DFF-83664023B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247"/>
          </a:xfrm>
        </p:spPr>
        <p:txBody>
          <a:bodyPr>
            <a:normAutofit/>
          </a:bodyPr>
          <a:lstStyle/>
          <a:p>
            <a:r>
              <a:rPr lang="ru-RU" sz="4000" b="1" dirty="0"/>
              <a:t>Заключение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1DCDA-E805-61BE-B664-07BE18014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275" y="1226372"/>
            <a:ext cx="11456894" cy="5266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Цель работы была достигнута. Решены все поставленные задачи:</a:t>
            </a:r>
          </a:p>
          <a:p>
            <a:r>
              <a:rPr lang="ru-RU" sz="2400" dirty="0"/>
              <a:t>Спроектирована и нормализована реляционная база данных для спортивной аналитики (159 тыс. фактов).</a:t>
            </a:r>
          </a:p>
          <a:p>
            <a:r>
              <a:rPr lang="ru-RU" sz="2400" dirty="0"/>
              <a:t>На уровне СУБД реализованы математические алгоритмы расчета 5 комплексных метрик (PER, BPM и др.) и проверки целостности.</a:t>
            </a:r>
          </a:p>
          <a:p>
            <a:r>
              <a:rPr lang="ru-RU" sz="2400" dirty="0"/>
              <a:t>Разработано REST API приложение с ролевым доступом и In-</a:t>
            </a:r>
            <a:r>
              <a:rPr lang="ru-RU" sz="2400" dirty="0" err="1"/>
              <a:t>memory</a:t>
            </a:r>
            <a:r>
              <a:rPr lang="ru-RU" sz="2400" dirty="0"/>
              <a:t> кэшированием (</a:t>
            </a:r>
            <a:r>
              <a:rPr lang="ru-RU" sz="2400" dirty="0" err="1"/>
              <a:t>Redis</a:t>
            </a:r>
            <a:r>
              <a:rPr lang="ru-RU" sz="2400" dirty="0"/>
              <a:t>).</a:t>
            </a:r>
          </a:p>
          <a:p>
            <a:r>
              <a:rPr lang="ru-RU" sz="2400" dirty="0"/>
              <a:t>Доказана эффективность использования предвычисленных витрин (ускорение в 31 раз) и целевых B-</a:t>
            </a:r>
            <a:r>
              <a:rPr lang="ru-RU" sz="2400" dirty="0" err="1"/>
              <a:t>tree</a:t>
            </a:r>
            <a:r>
              <a:rPr lang="ru-RU" sz="2400" dirty="0"/>
              <a:t> индексов.</a:t>
            </a:r>
          </a:p>
          <a:p>
            <a:r>
              <a:rPr lang="ru-RU" sz="2400" dirty="0"/>
              <a:t>Готовый программный комплекс применим для внутреннего использования аналитическими отделами баскетбольных клубов.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FA894-A1C0-28BE-FAFC-9CA7308D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051E-25F0-BE4E-9BA3-7274B3E06F68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199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592</Words>
  <Application>Microsoft Office PowerPoint</Application>
  <PresentationFormat>Широкоэкранный</PresentationFormat>
  <Paragraphs>143</Paragraphs>
  <Slides>17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Acrobat Document</vt:lpstr>
      <vt:lpstr>Разработка базы данных для хранения и анализа статистики игроков и команд NBA с реализацией расчетных метрик эффективности</vt:lpstr>
      <vt:lpstr>Цель и задачи</vt:lpstr>
      <vt:lpstr>Анализ существующих решений</vt:lpstr>
      <vt:lpstr>Диаграмма сущность-связь</vt:lpstr>
      <vt:lpstr>Ролевая модель и диаграмма прецедентов</vt:lpstr>
      <vt:lpstr>Формализация задачи</vt:lpstr>
      <vt:lpstr>Схема базы данных</vt:lpstr>
      <vt:lpstr>Алгоритм работы триггера ограничения целостности </vt:lpstr>
      <vt:lpstr>Архитектура программного обеспечения </vt:lpstr>
      <vt:lpstr>Диаграмма последовательности </vt:lpstr>
      <vt:lpstr>Средства реализации</vt:lpstr>
      <vt:lpstr>Программный интерфейс (REST API)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Никита Скляр</dc:creator>
  <cp:lastModifiedBy>иван журавлёв</cp:lastModifiedBy>
  <cp:revision>10</cp:revision>
  <dcterms:created xsi:type="dcterms:W3CDTF">2026-06-03T16:08:57Z</dcterms:created>
  <dcterms:modified xsi:type="dcterms:W3CDTF">2026-06-07T01:00:21Z</dcterms:modified>
</cp:coreProperties>
</file>